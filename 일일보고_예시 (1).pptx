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removePersonalInfoOnSave="1" strictFirstAndLastChars="0" autoCompressPictures="0">
  <p:sldMasterIdLst>
    <p:sldMasterId id="2147483648" r:id="rId1"/>
  </p:sldMasterIdLst>
  <p:notesMasterIdLst>
    <p:notesMasterId r:id="rId2"/>
  </p:notesMasterIdLst>
  <p:sldIdLst>
    <p:sldId id="256" r:id="rId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130A04DF-AFFF-4EDB-92B1-0D8AA63E0D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72" y="51"/>
      </p:cViewPr>
      <p:guideLst>
        <p:guide orient="horz" pos="215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presProps" Target="presProps.xml"  /><Relationship Id="rId5" Type="http://schemas.openxmlformats.org/officeDocument/2006/relationships/viewProps" Target="viewProps.xml"  /><Relationship Id="rId6" Type="http://schemas.openxmlformats.org/officeDocument/2006/relationships/theme" Target="theme/theme1.xml"  /><Relationship Id="rId7" Type="http://schemas.openxmlformats.org/officeDocument/2006/relationships/tableStyles" Target="tableStyle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/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algun Gothic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31812" y="188640"/>
            <a:ext cx="8660668" cy="720080"/>
          </a:xfrm>
          <a:prstGeom prst="roundRect">
            <a:avLst>
              <a:gd name="adj" fmla="val 16667"/>
            </a:avLst>
          </a:prstGeom>
          <a:solidFill>
            <a:srgbClr val="B7CCE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XX조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8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MM월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8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DD일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8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경과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8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보고</a:t>
            </a:r>
            <a:endParaRPr dirty="0"/>
          </a:p>
        </p:txBody>
      </p:sp>
      <p:sp>
        <p:nvSpPr>
          <p:cNvPr id="85" name="Google Shape;85;p1"/>
          <p:cNvSpPr/>
          <p:nvPr/>
        </p:nvSpPr>
        <p:spPr>
          <a:xfrm>
            <a:off x="250254" y="5085184"/>
            <a:ext cx="4249738" cy="1562795"/>
          </a:xfrm>
          <a:prstGeom prst="rect">
            <a:avLst/>
          </a:prstGeom>
          <a:noFill/>
          <a:ln w="12700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1600" marR="0" lvl="0" indent="-101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미해결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</a:t>
            </a:r>
            <a:endParaRPr sz="14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08000" marR="0" lvl="0" indent="-108000" algn="l" rtl="0"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ts val="1300"/>
              <a:buFont typeface="Arial"/>
              <a:buChar char="•"/>
            </a:pPr>
            <a:r>
              <a:rPr lang="ko-KR" altLang="en-US" b="0" i="0" u="none" strike="noStrike" cap="none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발생한 이슈와</a:t>
            </a:r>
            <a:r>
              <a:rPr lang="en-US" altLang="ko-KR" b="0" i="0" u="none" strike="noStrike" cap="none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b="0" i="0" u="none" strike="noStrike" cap="none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대응방안에 대한 보고</a:t>
            </a:r>
            <a:endParaRPr sz="2000" b="1" i="0" u="none" strike="noStrike" cap="none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0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4641540" y="5085183"/>
            <a:ext cx="4243958" cy="1562795"/>
          </a:xfrm>
          <a:prstGeom prst="rect">
            <a:avLst/>
          </a:prstGeom>
          <a:noFill/>
          <a:ln w="12700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1600" marR="0" lvl="0" indent="-101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rPr lang="ko-KR" altLang="en-US" sz="1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기타 보고사항</a:t>
            </a:r>
            <a:endParaRPr sz="14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08000" marR="0" lvl="0" indent="-108000" algn="l" rtl="0"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ts val="1300"/>
              <a:buFont typeface="Arial"/>
              <a:buChar char="•"/>
            </a:pPr>
            <a:r>
              <a:rPr lang="ko-KR" altLang="en-US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기타 보고가 필요한 부분에 대한 보고 </a:t>
            </a:r>
            <a:endParaRPr lang="en-US" altLang="ko-KR" b="0" i="0" u="none" strike="noStrike" cap="none" dirty="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01600" marR="0" lvl="0" indent="-1016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dirty="0"/>
          </a:p>
          <a:p>
            <a:pPr marL="10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87" name="Google Shape;87;p1"/>
          <p:cNvGraphicFramePr/>
          <p:nvPr/>
        </p:nvGraphicFramePr>
        <p:xfrm>
          <a:off x="250254" y="1094561"/>
          <a:ext cx="8582554" cy="1879502"/>
        </p:xfrm>
        <a:graphic>
          <a:graphicData uri="http://schemas.openxmlformats.org/drawingml/2006/table">
            <a:tbl>
              <a:tblPr firstRow="1" bandRow="1">
                <a:noFill/>
                <a:tableStyleId>{130A04DF-AFFF-4EDB-92B1-0D8AA63E0DF1}</a:tableStyleId>
              </a:tblPr>
              <a:tblGrid>
                <a:gridCol w="1948500"/>
                <a:gridCol w="473861"/>
                <a:gridCol w="473861"/>
                <a:gridCol w="473861"/>
                <a:gridCol w="473861"/>
                <a:gridCol w="473861"/>
                <a:gridCol w="473861"/>
                <a:gridCol w="473861"/>
                <a:gridCol w="473861"/>
                <a:gridCol w="473861"/>
                <a:gridCol w="473861"/>
                <a:gridCol w="473861"/>
                <a:gridCol w="473861"/>
                <a:gridCol w="473861"/>
                <a:gridCol w="473861"/>
              </a:tblGrid>
              <a:tr h="301576">
                <a:tc>
                  <a:txBody>
                    <a:bodyPr vert="horz" lIns="91450" tIns="45725" rIns="91450" bIns="45725" anchor="ctr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1200" u="none" strike="noStrike" cap="none">
                          <a:solidFill>
                            <a:schemeClr val="dk1"/>
                          </a:solidFill>
                        </a:rPr>
                        <a:t>단계</a:t>
                      </a: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 / </a:t>
                      </a:r>
                      <a:r>
                        <a:rPr lang="ko-KR" altLang="en-US" sz="1200" u="none" strike="noStrike" cap="none">
                          <a:solidFill>
                            <a:schemeClr val="dk1"/>
                          </a:solidFill>
                        </a:rPr>
                        <a:t>일자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dae5f1"/>
                    </a:solidFill>
                  </a:tcPr>
                </a:tc>
                <a:tc>
                  <a:txBody>
                    <a:bodyPr vert="horz" lIns="91450" tIns="45725" rIns="91450" bIns="45725" anchor="ctr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 sz="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50" tIns="45725" rIns="91450" bIns="45725" anchor="ctr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 sz="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50" tIns="45725" rIns="91450" bIns="45725" anchor="ctr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 sz="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50" tIns="45725" rIns="91450" bIns="45725" anchor="ctr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 sz="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50" tIns="45725" rIns="91450" bIns="45725" anchor="ctr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 sz="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50" tIns="45725" rIns="91450" bIns="45725" anchor="ctr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 sz="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50" tIns="45725" rIns="91450" bIns="45725" anchor="ctr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 sz="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50" tIns="45725" rIns="91450" bIns="45725" anchor="ctr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 sz="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50" tIns="45725" rIns="91450" bIns="45725" anchor="ctr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 sz="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50" tIns="45725" rIns="91450" bIns="45725" anchor="ctr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7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 sz="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50" tIns="45725" rIns="91450" bIns="45725" anchor="ctr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700" u="none" strike="noStrike" cap="none">
                          <a:solidFill>
                            <a:schemeClr val="dk1"/>
                          </a:solidFill>
                        </a:rPr>
                        <a:t>11</a:t>
                      </a:r>
                      <a:endParaRPr sz="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50" tIns="45725" rIns="91450" bIns="45725" anchor="ctr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700" u="none" strike="noStrike" cap="none">
                          <a:solidFill>
                            <a:schemeClr val="dk1"/>
                          </a:solidFill>
                        </a:rPr>
                        <a:t>12</a:t>
                      </a:r>
                      <a:endParaRPr sz="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50" tIns="45725" rIns="91450" bIns="45725" anchor="ctr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700" u="none" strike="noStrike" cap="none">
                          <a:solidFill>
                            <a:schemeClr val="dk1"/>
                          </a:solidFill>
                        </a:rPr>
                        <a:t>13</a:t>
                      </a:r>
                      <a:endParaRPr sz="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50" tIns="45725" rIns="91450" bIns="45725" anchor="ctr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70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 sz="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61950">
                <a:tc>
                  <a:txBody>
                    <a:bodyPr vert="horz" lIns="0" tIns="0" rIns="0" bIns="0" anchor="ctr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1200" u="none" strike="noStrike" cap="none">
                          <a:solidFill>
                            <a:schemeClr val="dk1"/>
                          </a:solidFill>
                        </a:rPr>
                        <a:t>주제 선정 및 기획안 작성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ff0000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</a:tr>
              <a:tr h="552450">
                <a:tc>
                  <a:txBody>
                    <a:bodyPr vert="horz" lIns="0" tIns="0" rIns="0" bIns="0" anchor="ctr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1200"/>
                        <a:t>WBS 작성, 역할 분담, 일정 산정, 데이터 준비</a:t>
                      </a:r>
                      <a:endParaRPr lang="ko-KR" altLang="en-US" sz="1200"/>
                    </a:p>
                  </a:txBody>
                  <a:tcPr marL="0" marR="0" marT="0" marB="0" anchor="ctr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ff0000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</a:tr>
              <a:tr h="301576">
                <a:tc>
                  <a:txBody>
                    <a:bodyPr vert="horz" lIns="0" tIns="0" rIns="0" bIns="0" anchor="ctr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1200" u="none" strike="noStrike" cap="none">
                          <a:solidFill>
                            <a:schemeClr val="dk1"/>
                          </a:solidFill>
                        </a:rPr>
                        <a:t>개발 작업</a:t>
                      </a:r>
                      <a:endParaRPr lang="ko-KR" altLang="en-US"/>
                    </a:p>
                  </a:txBody>
                  <a:tcPr marL="0" marR="0" marT="0" marB="0" anchor="ctr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ff0000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ff0000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ff0000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  <a:latin typeface="맑은 고딕"/>
                        <a:ea typeface="맑은 고딕"/>
                        <a:cs typeface="맑은 고딕"/>
                        <a:sym typeface="맑은 고딕"/>
                      </a:endParaRPr>
                    </a:p>
                  </a:txBody>
                  <a:tcPr marL="91450" marR="91450" marT="45725" marB="45725">
                    <a:solidFill>
                      <a:srgbClr val="ff0000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  <a:latin typeface="맑은 고딕"/>
                        <a:ea typeface="맑은 고딕"/>
                        <a:cs typeface="맑은 고딕"/>
                        <a:sym typeface="맑은 고딕"/>
                      </a:endParaRPr>
                    </a:p>
                  </a:txBody>
                  <a:tcPr marL="91450" marR="91450" marT="45725" marB="45725">
                    <a:solidFill>
                      <a:srgbClr val="ff0000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ff0000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ff0000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ebf1de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ebf1de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</a:tr>
              <a:tr h="361950">
                <a:tc>
                  <a:txBody>
                    <a:bodyPr vert="horz" lIns="0" tIns="0" rIns="0" bIns="0" anchor="ctr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1200" u="none" strike="noStrike" cap="none">
                          <a:solidFill>
                            <a:schemeClr val="dk1"/>
                          </a:solidFill>
                        </a:rPr>
                        <a:t>QA 및 결과보고서 작성</a:t>
                      </a:r>
                      <a:endParaRPr lang="ko-KR" altLang="en-US"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ebf1de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ebf1de"/>
                    </a:solidFill>
                  </a:tcPr>
                </a:tc>
                <a:tc>
                  <a:txBody>
                    <a:bodyPr vert="horz" lIns="91450" tIns="45725" rIns="91450" bIns="45725" anchor="t" anchorCtr="0"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ebf1de"/>
                    </a:solidFill>
                  </a:tcPr>
                </a:tc>
              </a:tr>
            </a:tbl>
          </a:graphicData>
        </a:graphic>
      </p:graphicFrame>
      <p:sp>
        <p:nvSpPr>
          <p:cNvPr id="88" name="Google Shape;88;p1"/>
          <p:cNvSpPr/>
          <p:nvPr/>
        </p:nvSpPr>
        <p:spPr>
          <a:xfrm>
            <a:off x="250254" y="3404376"/>
            <a:ext cx="4249800" cy="1562700"/>
          </a:xfrm>
          <a:prstGeom prst="rect">
            <a:avLst/>
          </a:prstGeom>
          <a:noFill/>
          <a:ln w="12700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108000" anchor="t" anchorCtr="0">
            <a:noAutofit/>
          </a:bodyPr>
          <a:lstStyle/>
          <a:p>
            <a:pPr marL="101600" marR="0" lvl="0" indent="-101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rPr lang="en-US" sz="1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금일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추진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현황</a:t>
            </a:r>
            <a:endParaRPr lang="en-US" sz="1800" dirty="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08000" marR="0" lvl="0" indent="-108000" algn="l" rtl="0"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ts val="1300"/>
              <a:buFont typeface="Arial"/>
              <a:buChar char="•"/>
            </a:pPr>
            <a:r>
              <a:rPr lang="ko-KR" altLang="en-US" b="0" i="0" u="none" strike="noStrike" cap="none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일자별로 진행된 부분에 대한 간단한 </a:t>
            </a:r>
            <a:r>
              <a:rPr lang="ko-KR" altLang="en-US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보고</a:t>
            </a:r>
            <a:endParaRPr lang="en-US" altLang="ko-KR" b="0" i="0" u="none" strike="noStrike" cap="none" dirty="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4641540" y="3404377"/>
            <a:ext cx="4243958" cy="1562795"/>
          </a:xfrm>
          <a:prstGeom prst="rect">
            <a:avLst/>
          </a:prstGeom>
          <a:noFill/>
          <a:ln w="12700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1600" marR="0" lvl="0" indent="-101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명일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추진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계획</a:t>
            </a:r>
            <a:endParaRPr sz="14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08000" indent="-108000">
              <a:buClr>
                <a:srgbClr val="538CD5"/>
              </a:buClr>
              <a:buSzPts val="1300"/>
              <a:buFont typeface="Arial"/>
              <a:buChar char="•"/>
            </a:pPr>
            <a:r>
              <a:rPr lang="ko-KR" altLang="en-US" b="0" i="0" u="none" strike="noStrike" cap="none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다음날 진행 예정된 부분에 대한 간단한 보고</a:t>
            </a:r>
            <a:endParaRPr lang="en-US" altLang="ko-KR" b="0" i="0" u="none" strike="noStrike" cap="none" dirty="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37</ep:Words>
  <ep:PresentationFormat>화면 슬라이드 쇼(4:3)</ep:PresentationFormat>
  <ep:Paragraphs>12</ep:Paragraphs>
  <ep:Slides>1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ep:HeadingPairs>
  <ep:TitlesOfParts>
    <vt:vector size="2" baseType="lpstr">
      <vt:lpstr>Office 테마</vt:lpstr>
      <vt:lpstr>슬라이드 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2022-03-21T07:59:06.000</dcterms:created>
  <cp:lastModifiedBy>emr33</cp:lastModifiedBy>
  <dcterms:modified xsi:type="dcterms:W3CDTF">2026-01-07T01:34:57.901</dcterms:modified>
  <cp:revision>12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